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1371600"/>
            <a:ext cx="3200400" cy="3200400"/>
          </a:xfrm>
          <a:prstGeom prst="ellipse">
            <a:avLst/>
          </a:prstGeom>
          <a:solidFill>
            <a:srgbClr val="D8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B4F72"/>
                </a:solidFill>
                <a:latin typeface="Century Gothic"/>
              </a:defRPr>
            </a:pPr>
            <a:r>
              <a:t>Регуляторные требования к 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E86C1"/>
                </a:solidFill>
                <a:latin typeface="Century Gothic"/>
              </a:defRPr>
            </a:pPr>
            <a:r>
              <a:t>подразделения предприятия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D6D7E"/>
                </a:solidFill>
                <a:latin typeface="Segoe UI"/>
              </a:defRPr>
            </a:pPr>
            <a:r>
              <a:t>Отдел спортивно-массовой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D6D7E"/>
                </a:solidFill>
                <a:latin typeface="Segoe UI"/>
              </a:defRPr>
            </a:pPr>
            <a:r>
              <a:t>Самарского университета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79" y="5669280"/>
            <a:ext cx="59338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D6D7E"/>
                </a:solidFill>
                <a:latin typeface="Segoe UI"/>
              </a:defRPr>
            </a:pPr>
            <a:r>
              <a:rPr dirty="0" err="1"/>
              <a:t>Выполнил</a:t>
            </a:r>
            <a:r>
              <a:rPr lang="ru-RU" dirty="0"/>
              <a:t>а</a:t>
            </a:r>
            <a:r>
              <a:rPr dirty="0"/>
              <a:t>: Рассказова Анастасия Сергеевна, </a:t>
            </a:r>
            <a:r>
              <a:rPr dirty="0" err="1"/>
              <a:t>группа</a:t>
            </a:r>
            <a:r>
              <a:rPr dirty="0"/>
              <a:t> 5140902/60501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669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E86C1"/>
                </a:solidFill>
                <a:latin typeface="Century Gothic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48323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Объект исследования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entury Gothic"/>
              </a:defRPr>
            </a:pPr>
            <a:r>
              <a:t>Отдел спортивно-массовой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Образован 30 декабря 2015 года. Организует универсиады вузов Самарской области, спартакиады университета, Праздник улицы Лукачева.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entury Gothic"/>
              </a:defRPr>
            </a:pPr>
            <a:r>
              <a:t>Структурные подразделения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7548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2C3E50"/>
                </a:solidFill>
                <a:latin typeface="Segoe UI"/>
              </a:defRPr>
            </a:pPr>
            <a:r>
              <a:rPr lang="ru-RU" dirty="0"/>
              <a:t>Парашютная секция</a:t>
            </a:r>
            <a:r>
              <a:rPr dirty="0"/>
              <a:t>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2C3E50"/>
                </a:solidFill>
                <a:latin typeface="Segoe UI"/>
              </a:defRPr>
            </a:pPr>
            <a:r>
              <a:rPr lang="ru-RU" dirty="0"/>
              <a:t>Студенческий аэроклуб имени Ю.Л. Тарасова</a:t>
            </a:r>
            <a:r>
              <a:rPr dirty="0"/>
              <a:t>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Клуб</a:t>
            </a:r>
            <a:r>
              <a:rPr dirty="0"/>
              <a:t> «</a:t>
            </a:r>
            <a:r>
              <a:rPr dirty="0" err="1"/>
              <a:t>Сварог</a:t>
            </a:r>
            <a:r>
              <a:rPr dirty="0"/>
              <a:t>»;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Школа</a:t>
            </a:r>
            <a:r>
              <a:rPr dirty="0"/>
              <a:t> </a:t>
            </a:r>
            <a:r>
              <a:rPr dirty="0" err="1"/>
              <a:t>воздухоплавания</a:t>
            </a:r>
            <a:r>
              <a:rPr lang="en-US" dirty="0"/>
              <a:t>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4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Прочее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7899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entury Gothic"/>
              </a:defRPr>
            </a:pPr>
            <a:r>
              <a:t>ИС «Спорт-Самара»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Регистрирует участников мероприятий, хранит данные о разрядах и результатах соревнований, учитывает медицинские допуски, формирует отчетность для руководства вуза и Министерства спорта Самарской области. Интегрируется с электронным деканатом и системой пропусков университета.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4007" y="5720934"/>
            <a:ext cx="1854545" cy="536211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65920" y="5760720"/>
            <a:ext cx="1854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rPr dirty="0" err="1"/>
              <a:t>Спец</a:t>
            </a:r>
            <a:r>
              <a:rPr dirty="0"/>
              <a:t>. </a:t>
            </a:r>
            <a:r>
              <a:rPr dirty="0" err="1"/>
              <a:t>категория</a:t>
            </a:r>
            <a:r>
              <a:rPr dirty="0"/>
              <a:t> </a:t>
            </a:r>
            <a:r>
              <a:rPr dirty="0" err="1"/>
              <a:t>ПДн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Нормативное регулирование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Century Gothic"/>
              </a:defRPr>
            </a:pPr>
            <a:r>
              <a:t>Федеральный уровень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2377440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2286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ФЗ-152 «О персональных данных»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788920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697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ПП РФ № 1119 (уровни защищенности)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200400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Приказ ФСТЭК № 21 (меры защиты ПДн)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3611880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520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Приказ ФСТЭК № 17 (ГИС)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4023360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Приказ ФСТЭК № 378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4434840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Указ Президента № 250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4846320"/>
            <a:ext cx="137160" cy="1371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Изменения от 01.09.2026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D8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Century Gothic"/>
              </a:defRPr>
            </a:pPr>
            <a:r>
              <a:t>Локальный уровень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entury Gothic"/>
              </a:defRPr>
            </a:pPr>
            <a:r>
              <a:t>Положение об обработке ПДн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Приказ № 329-О от 18.03.2025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entury Gothic"/>
              </a:defRPr>
            </a:pPr>
            <a:r>
              <a:t>Документы внутреннего контроля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Приказ № 770-О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2120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entury Gothic"/>
              </a:defRPr>
            </a:pPr>
            <a:r>
              <a:t>Формы согласий на обработку ПДн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Классификация ИС «Спорт-Самара»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0" b="1">
                <a:solidFill>
                  <a:srgbClr val="2E86C1"/>
                </a:solidFill>
                <a:latin typeface="Century Gothic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D6D7E"/>
                </a:solidFill>
                <a:latin typeface="Segoe UI"/>
              </a:defRPr>
            </a:pPr>
            <a:r>
              <a:t>уровень защищенности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entury Gothic"/>
              </a:defRPr>
            </a:pPr>
            <a:r>
              <a:t>Обоснование по ПП РФ № 1119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774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Segoe UI"/>
              </a:defRPr>
            </a:pPr>
            <a:r>
              <a:t>Специальная категория ПДн</a:t>
            </a:r>
            <a:br/>
            <a:r>
              <a:t>Система обрабатывает сведения о состоянии здоровья студентов (медицинские справки, допуски к соревнованиям)</a:t>
            </a:r>
            <a:br/>
            <a:br/>
            <a:r>
              <a:t>Государственное учреждение</a:t>
            </a:r>
            <a:br/>
            <a:r>
              <a:t>Самарский университет — ФГАОУ ВО, государственное образовательное учреждение</a:t>
            </a:r>
            <a:br/>
            <a:br/>
            <a:r>
              <a:t>Объем данных</a:t>
            </a:r>
            <a:br/>
            <a:r>
              <a:t>Количество участников спортивных мероприятий не превышает 100 000 человек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5669280"/>
            <a:ext cx="7772400" cy="73152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5760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t>Указ Президента № 250: только сертифицированное российское ПО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Модель угроз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entury Gothic"/>
              </a:defRPr>
            </a:pPr>
            <a:r>
              <a:t>Внешние угрозы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7548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НСД </a:t>
            </a:r>
            <a:r>
              <a:rPr dirty="0" err="1"/>
              <a:t>хакерских</a:t>
            </a:r>
            <a:r>
              <a:rPr dirty="0"/>
              <a:t> </a:t>
            </a:r>
            <a:r>
              <a:rPr dirty="0" err="1"/>
              <a:t>группировок</a:t>
            </a:r>
            <a:r>
              <a:rPr dirty="0"/>
              <a:t>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Вредоносное</a:t>
            </a:r>
            <a:r>
              <a:rPr dirty="0"/>
              <a:t> ПО (</a:t>
            </a:r>
            <a:r>
              <a:rPr dirty="0" err="1"/>
              <a:t>фишинг</a:t>
            </a:r>
            <a:r>
              <a:rPr dirty="0"/>
              <a:t>, USB)</a:t>
            </a:r>
            <a:r>
              <a:rPr lang="ru-RU" dirty="0"/>
              <a:t>;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DDoS-</a:t>
            </a:r>
            <a:r>
              <a:rPr dirty="0" err="1"/>
              <a:t>атаки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мероприятий</a:t>
            </a:r>
            <a:r>
              <a:rPr dirty="0"/>
              <a:t>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Атаки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цепочку</a:t>
            </a:r>
            <a:r>
              <a:rPr dirty="0"/>
              <a:t> </a:t>
            </a:r>
            <a:r>
              <a:rPr dirty="0" err="1"/>
              <a:t>поставок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entury Gothic"/>
              </a:defRPr>
            </a:pPr>
            <a:r>
              <a:t>Внутренние угрозы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7548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Умышленные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персонала</a:t>
            </a:r>
            <a:r>
              <a:rPr dirty="0"/>
              <a:t>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Неосторожность</a:t>
            </a:r>
            <a:r>
              <a:rPr dirty="0"/>
              <a:t> </a:t>
            </a:r>
            <a:r>
              <a:rPr dirty="0" err="1"/>
              <a:t>волонтеров</a:t>
            </a:r>
            <a:r>
              <a:rPr dirty="0"/>
              <a:t>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Злоупотребление</a:t>
            </a:r>
            <a:r>
              <a:rPr dirty="0"/>
              <a:t> </a:t>
            </a:r>
            <a:r>
              <a:rPr dirty="0" err="1"/>
              <a:t>правами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;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  <a:defRPr sz="13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Ошибочная</a:t>
            </a:r>
            <a:r>
              <a:rPr dirty="0"/>
              <a:t> </a:t>
            </a:r>
            <a:r>
              <a:rPr dirty="0" err="1"/>
              <a:t>рассылка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789920" cy="2286000"/>
          </a:xfrm>
          <a:prstGeom prst="roundRect">
            <a:avLst/>
          </a:prstGeom>
          <a:solidFill>
            <a:srgbClr val="D8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entury Gothic"/>
              </a:defRPr>
            </a:pPr>
            <a:r>
              <a:t>Критические риски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32004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Программы-вымогатели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486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131 инцидент в I кв.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937760"/>
            <a:ext cx="32004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Утечка через НСД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486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Высокий уровень риска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937760"/>
            <a:ext cx="32004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Действия инсайдера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486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Высокий уровень риска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Организационные меры защиты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entury Gothic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645920"/>
            <a:ext cx="100584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entury Gothic"/>
              </a:defRPr>
            </a:pPr>
            <a:r>
              <a:t>Управление персоналом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Назначение ответственного за ПДн, администратора ИБ, создание комиссии по контролю (приказ № 770-О)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entury Gothic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834640"/>
            <a:ext cx="100584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entury Gothic"/>
              </a:defRPr>
            </a:pPr>
            <a:r>
              <a:t>Документирование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9184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Подписание NDA со всеми сотрудниками и волонтерами, разработка модели угроз, политики ИБ, регламентов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entury Gothic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023360"/>
            <a:ext cx="100584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entury Gothic"/>
              </a:defRPr>
            </a:pPr>
            <a:r>
              <a:t>Обучение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80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Регулярное обучение цифровой гигиене не реже раза в год, инструктажи перед допуском к системе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entury Gothic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5212080"/>
            <a:ext cx="100584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entury Gothic"/>
              </a:defRPr>
            </a:pPr>
            <a:r>
              <a:t>Контроль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692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Внутренний аудит соответствия не реже раза в год, проверка актуальности моделей угроз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Технические меры защиты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82889" y="18059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rPr dirty="0" err="1"/>
              <a:t>Идентификация</a:t>
            </a:r>
            <a:r>
              <a:rPr dirty="0"/>
              <a:t> и </a:t>
            </a:r>
            <a:r>
              <a:rPr dirty="0" err="1"/>
              <a:t>аутентификация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391131" y="242915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MFA, </a:t>
            </a:r>
            <a:r>
              <a:rPr dirty="0" err="1"/>
              <a:t>пароли</a:t>
            </a:r>
            <a:r>
              <a:rPr dirty="0"/>
              <a:t> 12+ </a:t>
            </a:r>
            <a:r>
              <a:rPr dirty="0" err="1"/>
              <a:t>символов</a:t>
            </a:r>
            <a:r>
              <a:rPr dirty="0"/>
              <a:t>, </a:t>
            </a:r>
            <a:r>
              <a:rPr dirty="0" err="1"/>
              <a:t>блокировка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5 </a:t>
            </a:r>
            <a:r>
              <a:rPr dirty="0" err="1"/>
              <a:t>попыток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74919" y="18314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доступом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0" y="231485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 err="1"/>
              <a:t>Ролевая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с </a:t>
            </a:r>
            <a:r>
              <a:rPr dirty="0" err="1"/>
              <a:t>минимальными</a:t>
            </a:r>
            <a:r>
              <a:rPr dirty="0"/>
              <a:t> </a:t>
            </a:r>
            <a:r>
              <a:rPr dirty="0" err="1"/>
              <a:t>привилегиями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Антивирусная защита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53597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Kaspersky Endpoint Security, </a:t>
            </a:r>
            <a:r>
              <a:rPr dirty="0" err="1"/>
              <a:t>централизованное</a:t>
            </a:r>
            <a:r>
              <a:rPr dirty="0"/>
              <a:t> </a:t>
            </a:r>
            <a:r>
              <a:rPr dirty="0" err="1"/>
              <a:t>управление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82889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rPr dirty="0" err="1"/>
              <a:t>Межсетевое</a:t>
            </a:r>
            <a:r>
              <a:rPr dirty="0"/>
              <a:t> </a:t>
            </a:r>
            <a:r>
              <a:rPr dirty="0" err="1"/>
              <a:t>экранирование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391131" y="48234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NGFW + IDS/IPS, </a:t>
            </a:r>
            <a:r>
              <a:rPr dirty="0" err="1"/>
              <a:t>сегментация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4480559" y="402336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9049" y="42350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rPr dirty="0" err="1"/>
              <a:t>Регистрация</a:t>
            </a:r>
            <a:r>
              <a:rPr dirty="0"/>
              <a:t> </a:t>
            </a:r>
            <a:r>
              <a:rPr dirty="0" err="1"/>
              <a:t>событий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5423368" y="46177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rPr dirty="0"/>
              <a:t>SIEM-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логов</a:t>
            </a:r>
            <a:r>
              <a:rPr dirty="0"/>
              <a:t> ≥ 1 </a:t>
            </a:r>
            <a:r>
              <a:rPr dirty="0" err="1"/>
              <a:t>года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8229600" y="4023360"/>
            <a:ext cx="347472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0" y="41207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rPr dirty="0" err="1"/>
              <a:t>Криптографическая</a:t>
            </a:r>
            <a:r>
              <a:rPr dirty="0"/>
              <a:t> </a:t>
            </a:r>
            <a:r>
              <a:rPr dirty="0" err="1"/>
              <a:t>защита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9006840" y="47777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TLS 1.3, HTTPS, шифрование БД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400800"/>
            <a:ext cx="10789920" cy="365760"/>
          </a:xfrm>
          <a:prstGeom prst="roundRect">
            <a:avLst/>
          </a:prstGeom>
          <a:solidFill>
            <a:srgbClr val="D8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D6D7E"/>
                </a:solidFill>
                <a:latin typeface="Segoe UI"/>
              </a:defRPr>
            </a:pPr>
            <a:r>
              <a:t>Аббревиатуры соответствуют группам мер защиты по Приказу ФСТЭК №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Стек технологий и СКЗИ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" y="1874519"/>
            <a:ext cx="6400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Astra Linux Special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Сертификат ФСТЭК, госсектор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09159" y="1874519"/>
            <a:ext cx="6400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СУБД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Postgres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Сертифицированная версия, Реестр РФ ПО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58200" y="1874519"/>
            <a:ext cx="6400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920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Java + Spring 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Открытый стек, совместим с РФ ПО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4251960"/>
            <a:ext cx="6400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297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СКЗИ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КриптоПро CSP 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Сертификат ФСБ, ГОСТ-алгоритмы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09159" y="4251960"/>
            <a:ext cx="6400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59" y="4297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Сеть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КриптоПро NGate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Шлюз TLS 1.3 / HTTPS по ГОСТ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2336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458200" y="4251960"/>
            <a:ext cx="6400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4297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СЗИ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entury Gothic"/>
              </a:defRPr>
            </a:pPr>
            <a:r>
              <a:t>Kaspersky + SIEM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Антивирус + анализ инцидентов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400800"/>
            <a:ext cx="10789920" cy="36576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972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entury Gothic"/>
              </a:defRPr>
            </a:pPr>
            <a:r>
              <a:t>Все средства входят в Единый реестр РФ ПО и имеют сертификаты ФСТЭК / ФСБ (Указ № 250)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Архитектура и ролевая модель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277"/>
            <a:ext cx="530352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entury Gothic"/>
              </a:defRPr>
            </a:pP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системы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188720" y="2309970"/>
            <a:ext cx="4206240" cy="548640"/>
          </a:xfrm>
          <a:prstGeom prst="roundRect">
            <a:avLst/>
          </a:prstGeom>
          <a:solidFill>
            <a:srgbClr val="64A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40141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Пользователи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5861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3132930"/>
            <a:ext cx="420624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22437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NGFW + IDS/IPS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8157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955890"/>
            <a:ext cx="420624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404733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Сервер приложений (Kaspersky)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50453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4778850"/>
            <a:ext cx="4206240" cy="54864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487029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БД Postgres Pro (КриптоПро CSP)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32749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86C1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5601810"/>
            <a:ext cx="420624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1600" y="569325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entury Gothic"/>
              </a:defRPr>
            </a:pPr>
            <a:r>
              <a:t>SIEM + Резервное копирование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80" y="1576230"/>
            <a:ext cx="5303520" cy="4754880"/>
          </a:xfrm>
          <a:prstGeom prst="roundRect">
            <a:avLst/>
          </a:prstGeom>
          <a:solidFill>
            <a:srgbClr val="D8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99020" y="17602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4F72"/>
                </a:solidFill>
                <a:latin typeface="Century Gothic"/>
              </a:defRPr>
            </a:pPr>
            <a:r>
              <a:rPr dirty="0" err="1"/>
              <a:t>Ролевая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доступа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667498" y="2127090"/>
            <a:ext cx="45720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0378" y="217281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Администратор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0378" y="249285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Полный доступ ко всем данным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498" y="2950050"/>
            <a:ext cx="45720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0378" y="299577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Сотрудник ОСМР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0378" y="331581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Общие ПДн + спец. категория своего подразделения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498" y="3773010"/>
            <a:ext cx="45720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0378" y="381873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Тренер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378" y="413877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Общие ПДн + спец. категория только своих студентов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67498" y="4595970"/>
            <a:ext cx="45720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0378" y="464169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Волонтёр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0378" y="496173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Общие ПДн, без доступа к спец. категории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498" y="5418930"/>
            <a:ext cx="457200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0378" y="546465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Студент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0378" y="578469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Доступ только к своим данным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3716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4F72"/>
                </a:solidFill>
                <a:latin typeface="Century Gothic"/>
              </a:defRPr>
            </a:pPr>
            <a:r>
              <a:t>Соответствие приказу ФСТЭК № 21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89920" cy="548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t>Аббр.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t>Мера защиты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t>Реализация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t>Уровень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ИАФ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Идентификация и аутентификация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MFA, сложные пароли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377440"/>
            <a:ext cx="146304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2395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entury Gothic"/>
              </a:defRPr>
            </a:pPr>
            <a:r>
              <a:t>Высокий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34640"/>
            <a:ext cx="10789920" cy="502920"/>
          </a:xfrm>
          <a:prstGeom prst="rect">
            <a:avLst/>
          </a:prstGeom>
          <a:solidFill>
            <a:srgbClr val="D8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УПД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Управление доступом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Ролевая модель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926080"/>
            <a:ext cx="146304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29443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entury Gothic"/>
              </a:defRPr>
            </a:pPr>
            <a:r>
              <a:t>Высокий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АВЗ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Антивирусная защита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Kaspersky Endpoint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3474720"/>
            <a:ext cx="146304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0" y="34930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entury Gothic"/>
              </a:defRPr>
            </a:pPr>
            <a:r>
              <a:t>Высокий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31920"/>
            <a:ext cx="10789920" cy="502920"/>
          </a:xfrm>
          <a:prstGeom prst="rect">
            <a:avLst/>
          </a:prstGeom>
          <a:solidFill>
            <a:srgbClr val="D8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0233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МЭЭ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0233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Межсетевое экранирование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023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NGFW + IDS/IPS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4023359"/>
            <a:ext cx="1463040" cy="32004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0" y="40416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entury Gothic"/>
              </a:defRPr>
            </a:pPr>
            <a:r>
              <a:t>Средний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480559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5719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РГБ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5719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Регистрация событий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5719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SIEM, логи ≥ 1 года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571999"/>
            <a:ext cx="146304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0" y="45902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entury Gothic"/>
              </a:defRPr>
            </a:pPr>
            <a:r>
              <a:t>Высокий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029199"/>
            <a:ext cx="10789920" cy="502920"/>
          </a:xfrm>
          <a:prstGeom prst="rect">
            <a:avLst/>
          </a:prstGeom>
          <a:solidFill>
            <a:srgbClr val="D8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1206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ЗМН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120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Защита машинных носителей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120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Шифрование, DLP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5120639"/>
            <a:ext cx="1463040" cy="32004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513892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entury Gothic"/>
              </a:defRPr>
            </a:pPr>
            <a:r>
              <a:t>Средний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77839"/>
            <a:ext cx="10789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5669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entury Gothic"/>
              </a:defRPr>
            </a:pPr>
            <a:r>
              <a:t>КСЗ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5669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Криптографическая защита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669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D6D7E"/>
                </a:solidFill>
                <a:latin typeface="Segoe UI"/>
              </a:defRPr>
            </a:pPr>
            <a:r>
              <a:t>КриптоПро CSP, TLS 1.3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84080" y="5669279"/>
            <a:ext cx="146304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784080" y="568756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entury Gothic"/>
              </a:defRPr>
            </a:pPr>
            <a:r>
              <a:t>Высокий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6217920"/>
            <a:ext cx="10789920" cy="54864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97280" y="630936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entury Gothic"/>
              </a:defRPr>
            </a:pPr>
            <a:r>
              <a:rPr dirty="0" err="1"/>
              <a:t>Все</a:t>
            </a:r>
            <a:r>
              <a:rPr dirty="0"/>
              <a:t> 7 </a:t>
            </a:r>
            <a:r>
              <a:rPr dirty="0" err="1"/>
              <a:t>групп</a:t>
            </a:r>
            <a:r>
              <a:rPr dirty="0"/>
              <a:t> </a:t>
            </a:r>
            <a:r>
              <a:rPr dirty="0" err="1"/>
              <a:t>мер</a:t>
            </a:r>
            <a:r>
              <a:rPr dirty="0"/>
              <a:t> </a:t>
            </a:r>
            <a:r>
              <a:rPr dirty="0" err="1"/>
              <a:t>приказа</a:t>
            </a:r>
            <a:r>
              <a:rPr dirty="0"/>
              <a:t> ФСТЭК № 21 </a:t>
            </a:r>
            <a:r>
              <a:rPr dirty="0" err="1"/>
              <a:t>реализованы</a:t>
            </a:r>
            <a:r>
              <a:rPr dirty="0"/>
              <a:t> в </a:t>
            </a:r>
            <a:r>
              <a:rPr dirty="0" err="1"/>
              <a:t>системе</a:t>
            </a:r>
            <a:r>
              <a:rPr dirty="0"/>
              <a:t> «</a:t>
            </a:r>
            <a:r>
              <a:rPr dirty="0" err="1"/>
              <a:t>Спорт-Самара</a:t>
            </a:r>
            <a:r>
              <a:rPr dirty="0"/>
              <a:t>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entury Gothic"/>
              </a:defRPr>
            </a:pPr>
            <a:r>
              <a:t>Результаты проектирования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926080"/>
            <a:ext cx="3200400" cy="2286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2-й уровень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защищенности по ПП РФ № 1119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926080"/>
            <a:ext cx="3200400" cy="2286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32004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1148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соответствие требованиям ФСТЭК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926080"/>
            <a:ext cx="3200400" cy="2286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32004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РФ ПО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1148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сертифицированные средства защиты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Комплекс</a:t>
            </a:r>
            <a:r>
              <a:rPr dirty="0"/>
              <a:t> </a:t>
            </a:r>
            <a:r>
              <a:rPr dirty="0" err="1"/>
              <a:t>мер</a:t>
            </a:r>
            <a:r>
              <a:rPr dirty="0"/>
              <a:t>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утечки</a:t>
            </a:r>
            <a:r>
              <a:rPr dirty="0"/>
              <a:t> </a:t>
            </a:r>
            <a:r>
              <a:rPr dirty="0" err="1"/>
              <a:t>специальных</a:t>
            </a:r>
            <a:r>
              <a:rPr dirty="0"/>
              <a:t> </a:t>
            </a:r>
            <a:r>
              <a:rPr dirty="0" err="1"/>
              <a:t>категорий</a:t>
            </a:r>
            <a:r>
              <a:rPr dirty="0"/>
              <a:t> </a:t>
            </a:r>
            <a:r>
              <a:rPr dirty="0" err="1"/>
              <a:t>ПДн</a:t>
            </a:r>
            <a:r>
              <a:rPr dirty="0"/>
              <a:t> и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локальным</a:t>
            </a:r>
            <a:r>
              <a:rPr dirty="0"/>
              <a:t> </a:t>
            </a:r>
            <a:r>
              <a:rPr dirty="0" err="1"/>
              <a:t>актам</a:t>
            </a:r>
            <a:r>
              <a:rPr dirty="0"/>
              <a:t> </a:t>
            </a:r>
            <a:r>
              <a:rPr lang="ru-RU" dirty="0"/>
              <a:t>СНИУ им. Королёва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730</Words>
  <Application>Microsoft Office PowerPoint</Application>
  <PresentationFormat>Широкоэкранный</PresentationFormat>
  <Paragraphs>168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Рассказова Анастасия Сергеевна</cp:lastModifiedBy>
  <cp:revision>15</cp:revision>
  <dcterms:created xsi:type="dcterms:W3CDTF">2013-01-27T09:14:16Z</dcterms:created>
  <dcterms:modified xsi:type="dcterms:W3CDTF">2026-10-06T11:30:35Z</dcterms:modified>
  <cp:category/>
</cp:coreProperties>
</file>